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期中①</c:v>
                </c:pt>
              </c:strCache>
            </c:strRef>
          </c:tx>
          <c:spPr>
            <a:solidFill>
              <a:srgbClr val="3D8B8B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85.4</c:v>
                </c:pt>
                <c:pt idx="1">
                  <c:v>79.3</c:v>
                </c:pt>
                <c:pt idx="2">
                  <c:v>88.6</c:v>
                </c:pt>
                <c:pt idx="3">
                  <c:v>88.5</c:v>
                </c:pt>
                <c:pt idx="4">
                  <c:v>89.4</c:v>
                </c:pt>
                <c:pt idx="5">
                  <c:v>98.5</c:v>
                </c:pt>
                <c:pt idx="6">
                  <c:v>92.2</c:v>
                </c:pt>
                <c:pt idx="7">
                  <c:v>87.3</c:v>
                </c:pt>
                <c:pt idx="8">
                  <c:v>94.3</c:v>
                </c:pt>
                <c:pt idx="9">
                  <c:v>96.1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期末①</c:v>
                </c:pt>
              </c:strCache>
            </c:strRef>
          </c:tx>
          <c:spPr>
            <a:solidFill>
              <a:srgbClr val="4A90D9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90.0</c:v>
                </c:pt>
                <c:pt idx="1">
                  <c:v>89.9</c:v>
                </c:pt>
                <c:pt idx="2">
                  <c:v>93.1</c:v>
                </c:pt>
                <c:pt idx="3">
                  <c:v>95.6</c:v>
                </c:pt>
                <c:pt idx="4">
                  <c:v>95.7</c:v>
                </c:pt>
                <c:pt idx="5">
                  <c:v>94.0</c:v>
                </c:pt>
                <c:pt idx="6">
                  <c:v>93.8</c:v>
                </c:pt>
                <c:pt idx="7">
                  <c:v>91.5</c:v>
                </c:pt>
                <c:pt idx="8">
                  <c:v>90.3</c:v>
                </c:pt>
                <c:pt idx="9">
                  <c:v>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期中②</c:v>
                </c:pt>
              </c:strCache>
            </c:strRef>
          </c:tx>
          <c:spPr>
            <a:solidFill>
              <a:srgbClr val="5EF5C0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88.8</c:v>
                </c:pt>
                <c:pt idx="1">
                  <c:v>91.4</c:v>
                </c:pt>
                <c:pt idx="2">
                  <c:v>95.5</c:v>
                </c:pt>
                <c:pt idx="3">
                  <c:v>99.0</c:v>
                </c:pt>
                <c:pt idx="4">
                  <c:v>92.9</c:v>
                </c:pt>
                <c:pt idx="5">
                  <c:v>93.4</c:v>
                </c:pt>
                <c:pt idx="6">
                  <c:v>95.8</c:v>
                </c:pt>
                <c:pt idx="7">
                  <c:v>92.5</c:v>
                </c:pt>
                <c:pt idx="8">
                  <c:v>91.2</c:v>
                </c:pt>
                <c:pt idx="9">
                  <c:v>97.0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C2533"/>
            </a:solidFill>
          </a:ln>
        </c:spPr>
        <c:txPr>
          <a:bodyPr/>
          <a:lstStyle/>
          <a:p>
            <a:pPr>
              <a:defRPr sz="1000">
                <a:solidFill>
                  <a:srgbClr val="E6EDF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75.0"/>
        </c:scaling>
        <c:delete val="0"/>
        <c:axPos val="l"/>
        <c:majorGridlines>
          <c:spPr>
            <a:ln>
              <a:solidFill>
                <a:srgbClr val="1C253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C2533"/>
            </a:solidFill>
          </a:ln>
        </c:spPr>
        <c:txPr>
          <a:bodyPr/>
          <a:lstStyle/>
          <a:p>
            <a:pPr>
              <a:defRPr sz="1000">
                <a:solidFill>
                  <a:srgbClr val="8B95A5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6EDF3"/>
                </a:solidFill>
                <a:latin typeface="Calibri"/>
              </a:defRPr>
            </a:pPr>
            <a:r>
              <a:t>Joe Wei 九年级成绩总览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5A5"/>
                </a:solidFill>
                <a:latin typeface="Calibri"/>
              </a:rPr>
              <a:t>2024-2025 学年  |  </a:t>
            </a:r>
            <a:r>
              <a:rPr sz="1300" b="0">
                <a:solidFill>
                  <a:srgbClr val="E6EDF3"/>
                </a:solidFill>
                <a:latin typeface="Calibri"/>
              </a:rPr>
              <a:t>综合GPA: 3.48 → 3.77 → 3.91  </a:t>
            </a:r>
            <a:r>
              <a:rPr sz="1300" b="1">
                <a:solidFill>
                  <a:srgbClr val="5EF5C0"/>
                </a:solidFill>
                <a:latin typeface="Calibri"/>
              </a:rPr>
              <a:t>↑0.14 vs 上学期期末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EF5C0"/>
                </a:solidFill>
                <a:latin typeface="Calibri"/>
              </a:rPr>
              <a:t>A ≥ 90  </a:t>
            </a:r>
            <a:r>
              <a:rPr sz="1400" b="1">
                <a:solidFill>
                  <a:srgbClr val="FFA860"/>
                </a:solidFill>
                <a:latin typeface="Calibri"/>
              </a:rPr>
              <a:t>B ≥ 80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188720"/>
          <a:ext cx="11430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EF5C0"/>
                </a:solidFill>
                <a:latin typeface="Calibri"/>
              </a:rPr>
              <a:t>🏆 Psychology 99.0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EE7FF"/>
                </a:solidFill>
                <a:latin typeface="Calibri"/>
              </a:rPr>
              <a:t>🚀 Social Studies +12.1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A85"/>
                </a:solidFill>
                <a:latin typeface="Calibri"/>
              </a:rPr>
              <a:t>⚠️ Physics declining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